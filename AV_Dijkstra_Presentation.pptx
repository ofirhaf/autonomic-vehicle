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457B9D"/>
                </a:solidFill>
              </a:rPr>
              <a:t>PATH PLANNING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AUTONOMOUS VEHICLES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00400"/>
            <a:ext cx="36576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FBFC"/>
                </a:solidFill>
              </a:rPr>
              <a:t>Dijkstra's Shortest-Path Algorithm  •  Weighted Terrain  •  7 Obstacles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57B9D"/>
                </a:solidFill>
              </a:rPr>
              <a:t>ENPM 661 — Robot Motion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57B9D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544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Problem Statement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28016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389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Dijkstra Algorithm Theory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Weighted Terrain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46888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5786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Obstacle 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673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31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Implementation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65760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37673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GUI Demonstration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1206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Results &amp;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4846320"/>
            <a:ext cx="5120640" cy="10058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9560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D6A0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206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Conclusions &amp;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6D6A0"/>
                </a:solidFill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Navigate a 300 × 200 grid from any start to any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7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Avoid 7 static obstacles (circle, ellipse, triangles, rhombus, rod)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Respect robot body radius + safety clearance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Prefer paved road bands over open space and off-road 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Find the globally optimal weighted path — no approximations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36576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D166"/>
                </a:solidFill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Real AVs do not treat all drivable space equally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Roads: fast, smooth, predictable (cost × 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Open space: slower, less predictable (cost × 2.5)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Off-road / sidewalks: rough, unsafe (cost × 6.0)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  • Path planner must balance geometry AND terrain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DIJKSTRA'S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188720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Assign cost ∞ to every node; start node cost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6654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993392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30552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Push start into a MIN-HEAP (priority queue)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98064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7121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798064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935224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Pop node with the LOWEST cumulative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02736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602736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739896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For each unvisited neighbour, compute: new_cost = current + edge_weight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07408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4407408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44568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If new_cost &lt; neighbour's best known cost → update &amp; push to heap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59436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852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212080"/>
            <a:ext cx="9601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34924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BFC"/>
                </a:solidFill>
              </a:rPr>
              <a:t>Repeat until goal is popped (optimal!) or heap empty (no path)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126480"/>
            <a:ext cx="10698480" cy="53035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166"/>
                </a:solidFill>
              </a:rPr>
              <a:t>Edge weight  =  base_move_cost  ×  avg_terrain_cost(from, to)  ×  step_size     [straight: 1.0 × cost × step,  diagonal: √2 × cost × step]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WEIGHTED TERRAIN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657600" cy="50292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65760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16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ROAD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216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D1B2A"/>
                </a:solidFill>
              </a:rPr>
              <a:t>×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Paved lanes (dark green bands)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3 horizontal bands at rows 30–50, 90–110, 150–170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Cheapest — AV actively seeks these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3657600" cy="50292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657600" cy="502920"/>
          </a:xfrm>
          <a:prstGeom prst="rect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16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16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D1B2A"/>
                </a:solidFill>
              </a:rPr>
              <a:t>× 2.5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Parking lots, plazas (default background)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All rows not in road or off-road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Moderate cost — acceptable but not preferred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216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OFF-ROAD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216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D1B2A"/>
                </a:solidFill>
              </a:rPr>
              <a:t>× 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Sidewalks, rough terrain (dark blue bands)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77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4 bands at rows 1–20, 60–80, 120–140, 180–200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• Most expensive — AV detours around these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09360"/>
            <a:ext cx="10698480" cy="4114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3679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166"/>
                </a:solidFill>
              </a:rPr>
              <a:t>KEY INSIGHT: Dijkstra routes the vehicle through road bands even if a straight diagonal path through open space is geometrically shorter.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OBSTACLE MAP  —  7 SHAPES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Circle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234440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Centre (150, 225), radius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234440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Analytic:  dist = r² − (r_obs + c_r)²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02536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122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002536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1396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Centre (100, 150), axes 20 ×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002536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1396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Normalised Euclidean ≤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70632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80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Triangle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770632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9077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Vertices ≈ (120,20), (150,50), (185,25)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770632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9077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Half-plane intersection (all ≤ 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38728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484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Triangle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538728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6758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Vertices ≈ (150,50), (185,25), (185,75)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538728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675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Half-plane intersection (all ≥ 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16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Rhombus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306824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4439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Centre (25, 225), 4 corners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306824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4439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Four half-planes (all ≥ 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4920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84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5074920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5212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Tilted diamond near row 75, col 150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5074920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212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Four half-planes (all ≤ 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43016"/>
            <a:ext cx="2011680" cy="6583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95274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5843016"/>
            <a:ext cx="41148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59801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Diagonal bar, rows 30–76, cols 30–95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843016"/>
            <a:ext cx="5029200" cy="658368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9801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57B9D"/>
                </a:solidFill>
              </a:rPr>
              <a:t>Four half-planes, mixed 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166"/>
                </a:solidFill>
              </a:rPr>
              <a:t>All obstacles are inflated analytically by c_r = clearance + radius before path validation.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D6A0"/>
                </a:solidFill>
              </a:rPr>
              <a:t>IMPLEMENTATION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8046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utils.py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234440"/>
            <a:ext cx="8869680" cy="80467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34416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Dijkstra class: boundary checks, 8-directional search, terrain costs, lazy-deletion heap, CLI video export. Owns ROAD_ROWS / OFFROAD_ROWS — single source of truth.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86000" cy="8046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04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gui_config.py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240280"/>
            <a:ext cx="8869680" cy="80467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35000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All visual constants: colors, grid size, slider ranges, defaults. Imports zone boundaries from utils.py and derives TERRAIN_ZONES automatically — no duplication.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2286000" cy="804672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gui_canvas.py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46120"/>
            <a:ext cx="8869680" cy="80467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35584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PathCanvas (subclass of tk.Canvas): draws terrain shading, inflated obstacles (60k cell scan), explored cells per animation frame, final path, start/goal markers.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2286000" cy="804672"/>
          </a:xfrm>
          <a:prstGeom prst="rect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1655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gui.py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251960"/>
            <a:ext cx="8869680" cy="80467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436168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DijkstraGUI: wires sliders, buttons, canvas, and the frame-by-frame animation loop. 150 ms debounce on slider redraws. Entry point via main().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2286000" cy="8046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223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dijkstra.py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257800"/>
            <a:ext cx="8869680" cy="804672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5367528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CLI wrapper: prompts for inputs, validates, runs search, exports dijkstra_path.avi. All logic under if __name__ == '__main__': — safe to import.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GUI DEMONSTRATION</a:t>
            </a:r>
          </a:p>
        </p:txBody>
      </p:sp>
      <p:pic>
        <p:nvPicPr>
          <p:cNvPr id="4" name="Picture 3" descr="Screen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57B9D"/>
                </a:solidFill>
              </a:rPr>
              <a:t>Obstacle map with terrain zones</a:t>
            </a:r>
          </a:p>
        </p:txBody>
      </p:sp>
      <p:pic>
        <p:nvPicPr>
          <p:cNvPr id="6" name="Picture 5" descr="Screen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5778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57B9D"/>
                </a:solidFill>
              </a:rPr>
              <a:t>Exploration (blue) + optimal path (teal)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303520"/>
            <a:ext cx="11430000" cy="12801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Left-click: set Start (teal)  |  Right-click: set Goal (amber)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8192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Sliders: Robot Radius, Clearance, Step Size, Anim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66597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RUN / Enter  —  STOP / Esc  —  RESET /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RESULTS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651760" cy="20116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</a:rPr>
              <a:t>~215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FBFC"/>
                </a:solidFill>
              </a:rPr>
              <a:t>Weighted Distance (units)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651760" cy="20116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5176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</a:rPr>
              <a:t>14k – 28k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FBFC"/>
                </a:solidFill>
              </a:rPr>
              <a:t>Nodes Explored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51760" cy="20116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57B9D"/>
                </a:solidFill>
              </a:rPr>
              <a:t>180 – 260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FBFC"/>
                </a:solidFill>
              </a:rPr>
              <a:t>Path Length (nodes)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280160"/>
            <a:ext cx="2651760" cy="20116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651760" cy="73152"/>
          </a:xfrm>
          <a:prstGeom prst="rect">
            <a:avLst/>
          </a:prstGeom>
          <a:solidFill>
            <a:srgbClr val="E0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0FBFC"/>
                </a:solidFill>
              </a:rPr>
              <a:t>&lt; 3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0FBFC"/>
                </a:solidFill>
              </a:rPr>
              <a:t>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1430000" cy="29260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Key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605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Path bends through road bands even when a straight diagonal is geometrically shorter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445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Higher terrain weights (×6.0 off-road) create visible 'detours' around rough zones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286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Nodes explored scales with step size: step=1 → ~28k nodes, step=5 → ~3k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1266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Dijkstra guarantees the optimal weighted cost; A* would find it faster but requires a heuristic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967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defaultdict cuts memory allocation from 180k pre-allocated entries to O(visited)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D6A0"/>
                </a:solidFill>
              </a:rPr>
              <a:t>DIJKSTRA vs A*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560320" cy="5029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FBFC"/>
                </a:solidFill>
              </a:rPr>
              <a:t>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43891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Dijkstra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188720"/>
            <a:ext cx="438912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A*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Heuristic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737360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None — expands by cost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737360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Admissible h(n) guides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50592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420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Optimality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450592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5420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Guaranteed optimal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450592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54203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Guaranteed if h is admissible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552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Completeness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163824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25526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Complete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3163824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25526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77056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684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Nodes expanded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877056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96849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More (explores entire cost bubble)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3877056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96849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Fewer (directed toward goal)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90288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817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AV suitability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590288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6817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Good baseline, simple to tune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590288"/>
            <a:ext cx="43891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6817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Better for real-time, larger maps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03520"/>
            <a:ext cx="2560320" cy="6858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Implementation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303520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5394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Simpler — no heuristic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5303520"/>
            <a:ext cx="4389120" cy="685800"/>
          </a:xfrm>
          <a:prstGeom prst="rect">
            <a:avLst/>
          </a:prstGeom>
          <a:solidFill>
            <a:srgbClr val="14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394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FBFC"/>
                </a:solidFill>
              </a:rPr>
              <a:t>Requires domain-specific h(n)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2025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6D6A0"/>
                </a:solidFill>
              </a:rPr>
              <a:t>CONCLUSIONS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43891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Dijkstra finds the globally optimal terrain-weighted path — no heuristic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7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Terrain model effectively steers the AV away from rough zones and onto roads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7 analytic obstacle shapes with configurable robot radius + clearance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Interactive GUI provides real-time visualization of exploration and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defaultdict + lazy-deletion heap keeps memory and runtime efficient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Replace Dijkstra with A* or RRT* for real-time replanning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Add dynamic obstacles (pedestrians, other vehicles)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511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Incorporate 4D spatio-temporal planning (velocity + 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352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Integrate with ROS for physical robot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0FBFC"/>
                </a:solidFill>
              </a:rPr>
              <a:t>  • Extend to continuous C-space (non-grid representation)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36576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560320"/>
            <a:ext cx="10058400" cy="17373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</a:rPr>
              <a:t>Project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5468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FBFC"/>
                </a:solidFill>
              </a:rPr>
              <a:t>  • GitHub Repository:  https://github.com/OfirHaf/Autonomic-Vehicle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3872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0FBFC"/>
                </a:solidFill>
              </a:rPr>
              <a:t>  • Presentation Recording:  [ADD YOUR VIDEO URL HERE]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10058400" cy="192024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70916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166"/>
                </a:solidFill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16636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  • Dijkstra, E. W. (1959). A note on two problems in connexion with graphs.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55040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  • LaValle, S. M. (2006). Planning Algorithms. Cambridge University Press.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934456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BFC"/>
                </a:solidFill>
              </a:rPr>
              <a:t>  • Thrun, S. et al. (2005). Probabilistic Robotics. MIT Press.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57B9D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